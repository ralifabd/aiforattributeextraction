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lay"/>
      <p:regular r:id="rId23"/>
      <p:bold r:id="rId24"/>
    </p:embeddedFont>
    <p:embeddedFont>
      <p:font typeface="Inter SemiBold"/>
      <p:regular r:id="rId25"/>
      <p:bold r:id="rId26"/>
      <p:italic r:id="rId27"/>
      <p:boldItalic r:id="rId28"/>
    </p:embeddedFont>
    <p:embeddedFont>
      <p:font typeface="Inter Light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Inter ExtraLight"/>
      <p:regular r:id="rId37"/>
      <p:bold r:id="rId38"/>
      <p:italic r:id="rId39"/>
      <p:boldItalic r:id="rId40"/>
    </p:embeddedFont>
    <p:embeddedFont>
      <p:font typeface="Inter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Extra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InterMedium-bold.fntdata"/><Relationship Id="rId41" Type="http://schemas.openxmlformats.org/officeDocument/2006/relationships/font" Target="fonts/InterMedium-regular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Italic.fntdata"/><Relationship Id="rId21" Type="http://schemas.openxmlformats.org/officeDocument/2006/relationships/slide" Target="slides/slide16.xml"/><Relationship Id="rId43" Type="http://schemas.openxmlformats.org/officeDocument/2006/relationships/font" Target="fonts/InterMedium-italic.fntdata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Light-italic.fntdata"/><Relationship Id="rId30" Type="http://schemas.openxmlformats.org/officeDocument/2006/relationships/font" Target="fonts/InterLight-bold.fntdata"/><Relationship Id="rId11" Type="http://schemas.openxmlformats.org/officeDocument/2006/relationships/slide" Target="slides/slide6.xml"/><Relationship Id="rId33" Type="http://schemas.openxmlformats.org/officeDocument/2006/relationships/font" Target="fonts/Inter-regular.fntdata"/><Relationship Id="rId10" Type="http://schemas.openxmlformats.org/officeDocument/2006/relationships/slide" Target="slides/slide5.xml"/><Relationship Id="rId32" Type="http://schemas.openxmlformats.org/officeDocument/2006/relationships/font" Target="fonts/Inter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-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37" Type="http://schemas.openxmlformats.org/officeDocument/2006/relationships/font" Target="fonts/InterExtraLight-regular.fntdata"/><Relationship Id="rId14" Type="http://schemas.openxmlformats.org/officeDocument/2006/relationships/slide" Target="slides/slide9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2.xml"/><Relationship Id="rId39" Type="http://schemas.openxmlformats.org/officeDocument/2006/relationships/font" Target="fonts/InterExtraLight-italic.fntdata"/><Relationship Id="rId16" Type="http://schemas.openxmlformats.org/officeDocument/2006/relationships/slide" Target="slides/slide11.xml"/><Relationship Id="rId38" Type="http://schemas.openxmlformats.org/officeDocument/2006/relationships/font" Target="fonts/InterExtra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3b993cfb435d2ab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3b993cfb435d2ab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8a94596ac170d4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38a94596ac170d4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467e583b71b3b6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467e583b71b3b6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38a94596ac170d4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38a94596ac170d4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38a94596ac170d4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38a94596ac170d4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38a94596ac170d4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38a94596ac170d4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38a94596ac170d4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38a94596ac170d4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25b60e2e0cd76d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25b60e2e0cd76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38a94596ac170d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38a94596ac170d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38a94596ac170d4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38a94596ac170d4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38a94596ac170d4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38a94596ac170d4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38a94596ac170d4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38a94596ac170d4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38a94596ac170d4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38a94596ac170d4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38a94596ac170d4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38a94596ac170d4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8a94596ac170d4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h38a94596ac170d4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38a94596ac170d4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38a94596ac170d4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jpg"/><Relationship Id="rId4" Type="http://schemas.openxmlformats.org/officeDocument/2006/relationships/image" Target="../media/image1.jp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34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0" y="1724275"/>
            <a:ext cx="5108100" cy="14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ИИ для автоматического заполнения характеристик товаров</a:t>
            </a:r>
            <a:endParaRPr b="1" sz="2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0" y="3683100"/>
            <a:ext cx="375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60001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Команда: </a:t>
            </a:r>
            <a:r>
              <a:rPr lang="ru" sz="21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ISTeam</a:t>
            </a:r>
            <a:endParaRPr sz="2100">
              <a:solidFill>
                <a:srgbClr val="FFFFFF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0" y="567225"/>
            <a:ext cx="6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Продуктовый хакатон “Точка сборки”</a:t>
            </a:r>
            <a:endParaRPr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24449" l="30681" r="15886" t="35680"/>
          <a:stretch/>
        </p:blipFill>
        <p:spPr>
          <a:xfrm>
            <a:off x="2376000" y="1280400"/>
            <a:ext cx="2052000" cy="2050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14" title="photo_2026-10-14_13-25-5622.jpg"/>
          <p:cNvPicPr preferRelativeResize="0"/>
          <p:nvPr/>
        </p:nvPicPr>
        <p:blipFill rotWithShape="1">
          <a:blip r:embed="rId4">
            <a:alphaModFix/>
          </a:blip>
          <a:srcRect b="249" l="0" r="0" t="259"/>
          <a:stretch/>
        </p:blipFill>
        <p:spPr>
          <a:xfrm>
            <a:off x="180000" y="1279575"/>
            <a:ext cx="2052000" cy="205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title"/>
          </p:nvPr>
        </p:nvSpPr>
        <p:spPr>
          <a:xfrm>
            <a:off x="0" y="504000"/>
            <a:ext cx="86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400">
                <a:latin typeface="Inter"/>
                <a:ea typeface="Inter"/>
                <a:cs typeface="Inter"/>
                <a:sym typeface="Inter"/>
              </a:rPr>
              <a:t>Наша команда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66396" y="0"/>
            <a:ext cx="477600" cy="30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0" y="180525"/>
            <a:ext cx="3135900" cy="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1200"/>
              </a:spcAft>
              <a:buSzPts val="865"/>
              <a:buNone/>
            </a:pPr>
            <a:r>
              <a:rPr b="1" lang="ru" sz="1038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КОМАНДА </a:t>
            </a:r>
            <a:r>
              <a:rPr b="1" lang="ru" sz="1038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·  УЧАСТНИКИ</a:t>
            </a:r>
            <a:endParaRPr b="1" sz="1038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7" name="Google Shape;67;p14"/>
          <p:cNvCxnSpPr/>
          <p:nvPr/>
        </p:nvCxnSpPr>
        <p:spPr>
          <a:xfrm flipH="1" rot="10800000">
            <a:off x="288000" y="1008000"/>
            <a:ext cx="8521200" cy="2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2376000" y="3601575"/>
            <a:ext cx="22656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ru" sz="183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Абдуллин Ралиф</a:t>
            </a:r>
            <a:endParaRPr sz="143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180000" y="3601575"/>
            <a:ext cx="2265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ru" sz="183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Габдрашитова Марьям</a:t>
            </a:r>
            <a:endParaRPr sz="143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4572000" y="3601575"/>
            <a:ext cx="2265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83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Сидоров Кирилл</a:t>
            </a:r>
            <a:r>
              <a:rPr lang="ru" sz="183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 sz="1830">
              <a:solidFill>
                <a:srgbClr val="00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3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6768000" y="3601575"/>
            <a:ext cx="2265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ru" sz="183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Терехова Светлана</a:t>
            </a:r>
            <a:endParaRPr sz="143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331000" y="4194963"/>
            <a:ext cx="2061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3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Менеджер проекта, </a:t>
            </a:r>
            <a:r>
              <a:rPr lang="ru" sz="143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Data Analyst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80000" y="4321575"/>
            <a:ext cx="1971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3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Капитан, д</a:t>
            </a:r>
            <a:r>
              <a:rPr lang="ru" sz="143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изайнер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572000" y="4321575"/>
            <a:ext cx="1891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3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LLM-разработчик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6768000" y="4321575"/>
            <a:ext cx="2163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3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Data Scientist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4314275" y="5378825"/>
            <a:ext cx="4101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6">
            <a:alphaModFix/>
          </a:blip>
          <a:srcRect b="66757" l="-93353" r="100000" t="-60110"/>
          <a:stretch/>
        </p:blipFill>
        <p:spPr>
          <a:xfrm>
            <a:off x="4634700" y="1206000"/>
            <a:ext cx="1784400" cy="2443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 rotWithShape="1">
          <a:blip r:embed="rId6">
            <a:alphaModFix/>
          </a:blip>
          <a:srcRect b="11264" l="8713" r="3722" t="28820"/>
          <a:stretch/>
        </p:blipFill>
        <p:spPr>
          <a:xfrm>
            <a:off x="4572000" y="1279575"/>
            <a:ext cx="2052000" cy="2052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9" name="Google Shape;79;p14" title="photo_2026-10-15_12-35-50.jpg"/>
          <p:cNvPicPr preferRelativeResize="0"/>
          <p:nvPr/>
        </p:nvPicPr>
        <p:blipFill rotWithShape="1">
          <a:blip r:embed="rId7">
            <a:alphaModFix/>
          </a:blip>
          <a:srcRect b="0" l="14786" r="7022" t="0"/>
          <a:stretch/>
        </p:blipFill>
        <p:spPr>
          <a:xfrm>
            <a:off x="6768000" y="1279575"/>
            <a:ext cx="2052000" cy="2050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EXECUTIVE SUMMARY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0" y="180525"/>
            <a:ext cx="3135900" cy="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1200"/>
              </a:spcAft>
              <a:buSzPts val="865"/>
              <a:buNone/>
            </a:pPr>
            <a:r>
              <a:rPr b="1" lang="ru" sz="1038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ПОСТАНОВКА </a:t>
            </a:r>
            <a:r>
              <a:rPr b="1" lang="ru" sz="1038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· ПЛАН ДЕЙСТВИЙ</a:t>
            </a:r>
            <a:endParaRPr b="1" sz="1038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5"/>
          <p:cNvSpPr txBox="1"/>
          <p:nvPr>
            <p:ph type="title"/>
          </p:nvPr>
        </p:nvSpPr>
        <p:spPr>
          <a:xfrm>
            <a:off x="0" y="504000"/>
            <a:ext cx="878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 flipH="1" rot="10800000">
            <a:off x="288000" y="1008000"/>
            <a:ext cx="8521200" cy="2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6396" y="0"/>
            <a:ext cx="477600" cy="3011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260475" y="1218150"/>
            <a:ext cx="2766300" cy="3453600"/>
          </a:xfrm>
          <a:prstGeom prst="roundRect">
            <a:avLst>
              <a:gd fmla="val 5774" name="adj"/>
            </a:avLst>
          </a:prstGeom>
          <a:solidFill>
            <a:srgbClr val="F3F3F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188850" y="1216800"/>
            <a:ext cx="2766300" cy="3453600"/>
          </a:xfrm>
          <a:prstGeom prst="roundRect">
            <a:avLst>
              <a:gd fmla="val 5774" name="adj"/>
            </a:avLst>
          </a:prstGeom>
          <a:solidFill>
            <a:srgbClr val="CC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6117225" y="1218138"/>
            <a:ext cx="2766300" cy="3453600"/>
          </a:xfrm>
          <a:prstGeom prst="roundRect">
            <a:avLst>
              <a:gd fmla="val 5774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6117225" y="1270725"/>
            <a:ext cx="1838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РЕАЛИЗАЦИЯ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59200" y="1270725"/>
            <a:ext cx="27009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ВХОДНЫЕ ДАННЫЕ</a:t>
            </a:r>
            <a:endParaRPr b="1" sz="12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3188850" y="1270725"/>
            <a:ext cx="2637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0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EDA </a:t>
            </a:r>
            <a:r>
              <a:rPr b="1" lang="ru" sz="103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· ПАЙПЛАЙН РАБОТЫ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252000" y="1753825"/>
            <a:ext cx="2549400" cy="29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1" lvl="0" marL="288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Char char="●"/>
            </a:pP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Исходный YML-фид каталога М.Видео: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546</a:t>
            </a: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тыс. товаров,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7</a:t>
            </a: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тыс. категорий,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21</a:t>
            </a: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млн пар товар-атрибут. Это база — из неё мы берём справочник категорий и атрибутов.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171501" lvl="0" marL="288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Char char="●"/>
            </a:pP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Текстовые карточки товаров: заголовок и описание.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1.17 </a:t>
            </a: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млн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171501" lvl="0" marL="2880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000"/>
              <a:buFont typeface="Inter Medium"/>
              <a:buChar char="●"/>
            </a:pP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Лог поисковых запросов и кликов. Используется для приоритизации: какие категории и атрибуты важнее для покупателя, чтобы взвешивать метрики по трафику. (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31</a:t>
            </a: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млн показов,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1.4</a:t>
            </a: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млн уникальных запросов,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333</a:t>
            </a:r>
            <a:r>
              <a:rPr lang="ru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тыс. уникальных SKU)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188850" y="1753825"/>
            <a:ext cx="26637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1" lvl="0" marL="2160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</a:pPr>
            <a:r>
              <a:rPr lang="ru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Изучить и понять продуктовую ценность кейса</a:t>
            </a:r>
            <a:endParaRPr sz="10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171501" lvl="0" marL="2160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</a:pPr>
            <a:r>
              <a:rPr lang="ru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Расчет traffic weight</a:t>
            </a:r>
            <a:endParaRPr sz="10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171501" lvl="0" marL="2160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</a:pPr>
            <a:r>
              <a:rPr lang="ru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Извлечение и приоритезация целевых атрибутов</a:t>
            </a:r>
            <a:endParaRPr sz="10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171501" lvl="0" marL="2160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Char char="●"/>
            </a:pPr>
            <a:r>
              <a:rPr lang="ru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Получение выводов и решений о словарях, NLP и тд.</a:t>
            </a:r>
            <a:endParaRPr sz="10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171501" lvl="0" marL="216000" rtl="0" algn="l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ts val="1000"/>
              <a:buFont typeface="Inter Medium"/>
              <a:buChar char="●"/>
            </a:pPr>
            <a:r>
              <a:rPr lang="ru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Построение</a:t>
            </a:r>
            <a:r>
              <a:rPr lang="ru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пайплайна</a:t>
            </a:r>
            <a:endParaRPr sz="10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6117225" y="1753825"/>
            <a:ext cx="27009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1" lvl="0" marL="2160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Char char="●"/>
            </a:pPr>
            <a:r>
              <a:rPr lang="ru" sz="1000">
                <a:solidFill>
                  <a:schemeClr val="lt1"/>
                </a:solidFill>
                <a:highlight>
                  <a:schemeClr val="dk1"/>
                </a:highlight>
                <a:latin typeface="Inter Medium"/>
                <a:ea typeface="Inter Medium"/>
                <a:cs typeface="Inter Medium"/>
                <a:sym typeface="Inter Medium"/>
              </a:rPr>
              <a:t>Предобработка</a:t>
            </a:r>
            <a:r>
              <a:rPr lang="ru" sz="1000">
                <a:solidFill>
                  <a:schemeClr val="lt1"/>
                </a:solidFill>
                <a:highlight>
                  <a:schemeClr val="dk1"/>
                </a:highlight>
                <a:latin typeface="Inter Medium"/>
                <a:ea typeface="Inter Medium"/>
                <a:cs typeface="Inter Medium"/>
                <a:sym typeface="Inter Medium"/>
              </a:rPr>
              <a:t> входных данных</a:t>
            </a:r>
            <a:endParaRPr sz="1000">
              <a:solidFill>
                <a:schemeClr val="lt1"/>
              </a:solidFill>
              <a:highlight>
                <a:schemeClr val="dk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171501" lvl="0" marL="2160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Char char="●"/>
            </a:pPr>
            <a:r>
              <a:rPr lang="ru" sz="1100">
                <a:solidFill>
                  <a:schemeClr val="lt1"/>
                </a:solidFill>
                <a:highlight>
                  <a:schemeClr val="dk1"/>
                </a:highlight>
                <a:latin typeface="Inter Medium"/>
                <a:ea typeface="Inter Medium"/>
                <a:cs typeface="Inter Medium"/>
                <a:sym typeface="Inter Medium"/>
              </a:rPr>
              <a:t>Извлечение кандидатов</a:t>
            </a:r>
            <a:endParaRPr sz="1100">
              <a:solidFill>
                <a:schemeClr val="lt1"/>
              </a:solidFill>
              <a:highlight>
                <a:schemeClr val="dk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177851" lvl="0" marL="216000" rtl="0" algn="l"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100"/>
              <a:buFont typeface="Inter Medium"/>
              <a:buChar char="●"/>
            </a:pPr>
            <a:r>
              <a:rPr lang="ru" sz="1100">
                <a:solidFill>
                  <a:schemeClr val="lt1"/>
                </a:solidFill>
                <a:highlight>
                  <a:schemeClr val="dk1"/>
                </a:highlight>
                <a:latin typeface="Inter Medium"/>
                <a:ea typeface="Inter Medium"/>
                <a:cs typeface="Inter Medium"/>
                <a:sym typeface="Inter Medium"/>
              </a:rPr>
              <a:t>Расчет метрик сравнений (Per-attribute precision / recall / F1)</a:t>
            </a:r>
            <a:endParaRPr sz="1100">
              <a:solidFill>
                <a:schemeClr val="lt1"/>
              </a:solidFill>
              <a:highlight>
                <a:schemeClr val="dk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Поднять продажи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Сэкономить деньги на запросы</a:t>
            </a:r>
            <a:endParaRPr/>
          </a:p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0" y="504000"/>
            <a:ext cx="878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>
                <a:latin typeface="Inter"/>
                <a:ea typeface="Inter"/>
                <a:cs typeface="Inter"/>
                <a:sym typeface="Inter"/>
              </a:rPr>
              <a:t>Продуктовая ценность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4" name="Google Shape;104;p16"/>
          <p:cNvCxnSpPr/>
          <p:nvPr/>
        </p:nvCxnSpPr>
        <p:spPr>
          <a:xfrm flipH="1" rot="10800000">
            <a:off x="288000" y="1008000"/>
            <a:ext cx="8521200" cy="2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0" y="180525"/>
            <a:ext cx="3135900" cy="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1200"/>
              </a:spcAft>
              <a:buSzPts val="865"/>
              <a:buNone/>
            </a:pPr>
            <a:r>
              <a:rPr b="1" lang="ru" sz="1038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ПОСТАНОВКА · ПЛАН ДЕЙСТВИЙ</a:t>
            </a:r>
            <a:endParaRPr b="1" sz="1038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2455850" y="3381000"/>
            <a:ext cx="3608700" cy="17625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200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Из топ-30 атрибутов по трафику есть атрибуты — сервисные (Пример: “потратить бонусы”) и атрибуты — продуктовые (заполняемые </a:t>
            </a:r>
            <a:r>
              <a:rPr lang="ru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продавцом</a:t>
            </a:r>
            <a:r>
              <a:rPr lang="ru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)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84200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Топ-7 продуктовых атрибутов — Страна, Гарантия, Цвет, Вес, Ширина, Высота, Глубина — покрывают 67–93% трафика, но у Глубины треть показов идёт на товары без значения.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11" name="Google Shape;111;p17"/>
          <p:cNvCxnSpPr/>
          <p:nvPr/>
        </p:nvCxnSpPr>
        <p:spPr>
          <a:xfrm flipH="1" rot="10800000">
            <a:off x="288000" y="1008000"/>
            <a:ext cx="8521200" cy="2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>
            <p:ph type="title"/>
          </p:nvPr>
        </p:nvSpPr>
        <p:spPr>
          <a:xfrm>
            <a:off x="0" y="504000"/>
            <a:ext cx="878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2400">
                <a:latin typeface="Inter"/>
                <a:ea typeface="Inter"/>
                <a:cs typeface="Inter"/>
                <a:sym typeface="Inter"/>
              </a:rPr>
              <a:t>EDA (Exploratory Data Analysis)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6396" y="0"/>
            <a:ext cx="477600" cy="30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 rotWithShape="1">
          <a:blip r:embed="rId4">
            <a:alphaModFix/>
          </a:blip>
          <a:srcRect b="0" l="2733" r="0" t="0"/>
          <a:stretch/>
        </p:blipFill>
        <p:spPr>
          <a:xfrm>
            <a:off x="6249999" y="2844301"/>
            <a:ext cx="2681600" cy="2148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0" y="180000"/>
            <a:ext cx="6064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038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РАБОТА С ДАННЫМИ ·  АНАЛИЗ ЛОГОВ ПОИСКОВЫХ ЗАПРОСОВ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113400" y="1112975"/>
            <a:ext cx="25407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31,0 млн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- показов в логах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1,42 млн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- уникальных запросов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332 753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- уникальных SKU в логах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48,1%(?)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- медианное покрытие продуктовых атрибутов с учётом трафика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5675625" y="1125900"/>
            <a:ext cx="3330000" cy="16692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Выводы: П</a:t>
            </a:r>
            <a:r>
              <a:rPr lang="ru" sz="1400">
                <a:solidFill>
                  <a:schemeClr val="dk1"/>
                </a:solidFill>
              </a:rPr>
              <a:t>риоритизировать атрибуты не только по частоте в каталоге, но и по </a:t>
            </a:r>
            <a:r>
              <a:rPr b="1" lang="ru" sz="1400">
                <a:solidFill>
                  <a:schemeClr val="dk1"/>
                </a:solidFill>
              </a:rPr>
              <a:t>пользовательскому запросу</a:t>
            </a:r>
            <a:r>
              <a:rPr lang="ru" sz="1400">
                <a:solidFill>
                  <a:schemeClr val="dk1"/>
                </a:solidFill>
              </a:rPr>
              <a:t>. Начать с востребованных товарных категорий и характеристик, которые помогают различать товары.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300" y="1076700"/>
            <a:ext cx="2681599" cy="217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8"/>
          <p:cNvCxnSpPr/>
          <p:nvPr/>
        </p:nvCxnSpPr>
        <p:spPr>
          <a:xfrm flipH="1" rot="10800000">
            <a:off x="288000" y="1008000"/>
            <a:ext cx="8521200" cy="2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8"/>
          <p:cNvSpPr txBox="1"/>
          <p:nvPr>
            <p:ph type="title"/>
          </p:nvPr>
        </p:nvSpPr>
        <p:spPr>
          <a:xfrm>
            <a:off x="0" y="504000"/>
            <a:ext cx="87777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2400">
                <a:latin typeface="Inter"/>
                <a:ea typeface="Inter"/>
                <a:cs typeface="Inter"/>
                <a:sym typeface="Inter"/>
              </a:rPr>
              <a:t>EDA (Exploratory Data Analysis)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6396" y="0"/>
            <a:ext cx="477600" cy="30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0" y="180000"/>
            <a:ext cx="6064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038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РАБОТА С ДАННЫМИ · АНАЛИЗ КАТАЛОГА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6165063" y="1237413"/>
            <a:ext cx="2183700" cy="1477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Inter Light"/>
                <a:ea typeface="Inter Light"/>
                <a:cs typeface="Inter Light"/>
                <a:sym typeface="Inter Light"/>
              </a:rPr>
              <a:t>Дубликаты названий категорий встречаются в </a:t>
            </a:r>
            <a:r>
              <a:rPr b="1" lang="ru" sz="1200">
                <a:latin typeface="Inter"/>
                <a:ea typeface="Inter"/>
                <a:cs typeface="Inter"/>
                <a:sym typeface="Inter"/>
              </a:rPr>
              <a:t>381</a:t>
            </a:r>
            <a:r>
              <a:rPr lang="ru" sz="1200">
                <a:latin typeface="Inter Light"/>
                <a:ea typeface="Inter Light"/>
                <a:cs typeface="Inter Light"/>
                <a:sym typeface="Inter Light"/>
              </a:rPr>
              <a:t> случае, поэтому одного названия категории недостаточно для однозначной идентификации.</a:t>
            </a:r>
            <a:endParaRPr sz="1200"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2850" y="1132425"/>
            <a:ext cx="2498310" cy="1740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85825" y="1091525"/>
            <a:ext cx="3211500" cy="40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546 069</a:t>
            </a:r>
            <a:r>
              <a:rPr b="1" lang="ru" sz="23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SKU в каталоге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6 963</a:t>
            </a:r>
            <a:r>
              <a:rPr b="1" lang="ru" sz="23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категории (5 779 категорий находятся на глубине 2 дерева)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66,2%</a:t>
            </a:r>
            <a:r>
              <a:rPr b="1" lang="ru" sz="2300">
                <a:solidFill>
                  <a:schemeClr val="dk1"/>
                </a:solidFill>
              </a:rPr>
              <a:t>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категорий содержат менее 5 SKU</a:t>
            </a:r>
            <a:endParaRPr sz="11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48,4%</a:t>
            </a:r>
            <a:r>
              <a:rPr b="1" lang="ru" sz="1200">
                <a:solidFill>
                  <a:schemeClr val="dk1"/>
                </a:solidFill>
              </a:rPr>
              <a:t> 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категорий без SKU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54 760</a:t>
            </a:r>
            <a:r>
              <a:rPr b="1" lang="ru" sz="23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SKU в крупнейшей категории (Приложение 1)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6188" y="2923950"/>
            <a:ext cx="2953025" cy="19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3297325" y="3061950"/>
            <a:ext cx="2397600" cy="1739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Длинный хвост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Крупнейшая категория — “Матрасы” — </a:t>
            </a:r>
            <a:r>
              <a:rPr b="1" lang="ru" sz="1300">
                <a:solidFill>
                  <a:schemeClr val="dk1"/>
                </a:solidFill>
              </a:rPr>
              <a:t>10%</a:t>
            </a:r>
            <a:r>
              <a:rPr lang="ru" sz="1100">
                <a:solidFill>
                  <a:schemeClr val="dk1"/>
                </a:solidFill>
              </a:rPr>
              <a:t> всего каталога. А топ-20 категорий дают </a:t>
            </a:r>
            <a:r>
              <a:rPr b="1" lang="ru">
                <a:solidFill>
                  <a:schemeClr val="dk1"/>
                </a:solidFill>
              </a:rPr>
              <a:t>64%</a:t>
            </a:r>
            <a:r>
              <a:rPr lang="ru" sz="1100">
                <a:solidFill>
                  <a:schemeClr val="dk1"/>
                </a:solidFill>
              </a:rPr>
              <a:t> каталога.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Вывод:обучать модель по каждой категории нельзя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19"/>
          <p:cNvCxnSpPr/>
          <p:nvPr/>
        </p:nvCxnSpPr>
        <p:spPr>
          <a:xfrm flipH="1" rot="10800000">
            <a:off x="288000" y="1008000"/>
            <a:ext cx="8521200" cy="2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9"/>
          <p:cNvSpPr txBox="1"/>
          <p:nvPr>
            <p:ph type="title"/>
          </p:nvPr>
        </p:nvSpPr>
        <p:spPr>
          <a:xfrm>
            <a:off x="0" y="504000"/>
            <a:ext cx="877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2400">
                <a:latin typeface="Inter"/>
                <a:ea typeface="Inter"/>
                <a:cs typeface="Inter"/>
                <a:sym typeface="Inter"/>
              </a:rPr>
              <a:t>EDA (Exploratory Data Analysis)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6396" y="0"/>
            <a:ext cx="477600" cy="30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0" y="180000"/>
            <a:ext cx="606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0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РАБОТА С ДАННЫМИ ·  </a:t>
            </a:r>
            <a:r>
              <a:rPr b="1" lang="ru" sz="10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АНАЛИЗ ТЕКСТОВЫХ КАРТОЧЕК И АТРИБУТОВ (про каталог)</a:t>
            </a:r>
            <a:endParaRPr b="1"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129875" y="1208700"/>
            <a:ext cx="2697000" cy="3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20,98 млн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- пар SKU–атрибут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12 999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- уникальных названий атрибутов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27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- медианное число атрибутов на SKU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ru" sz="2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42,75%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- расхождений между </a:t>
            </a:r>
            <a:r>
              <a:rPr i="1" lang="ru" sz="1200">
                <a:latin typeface="Inter Medium"/>
                <a:ea typeface="Inter Medium"/>
                <a:cs typeface="Inter Medium"/>
                <a:sym typeface="Inter Medium"/>
              </a:rPr>
              <a:t>attr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и </a:t>
            </a:r>
            <a:r>
              <a:rPr i="1"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attr_search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среди сопоставленных пар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20654" t="0"/>
          <a:stretch/>
        </p:blipFill>
        <p:spPr>
          <a:xfrm>
            <a:off x="2737850" y="1469613"/>
            <a:ext cx="2697001" cy="167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2561375" y="1072013"/>
            <a:ext cx="326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Р</a:t>
            </a:r>
            <a:r>
              <a:rPr lang="ru" sz="1100"/>
              <a:t>аспределение числа атрибутов на товар</a:t>
            </a:r>
            <a:endParaRPr sz="1100"/>
          </a:p>
        </p:txBody>
      </p:sp>
      <p:pic>
        <p:nvPicPr>
          <p:cNvPr id="143" name="Google Shape;14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6400" y="2311635"/>
            <a:ext cx="3000001" cy="259726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2826875" y="336697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Главный тезис: атрибуты неоднородны по частоте, формату и разнообразию значений; одного метода извлечения и нормализации недостаточно.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5546200" y="1139750"/>
            <a:ext cx="3425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Вывод: Использовать словари для ограниченных наборов значений, парсеры — для чисел и единиц, извлечение из текста — для моделей и свободных характеристик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20"/>
          <p:cNvCxnSpPr/>
          <p:nvPr/>
        </p:nvCxnSpPr>
        <p:spPr>
          <a:xfrm>
            <a:off x="722175" y="3172700"/>
            <a:ext cx="7498800" cy="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0"/>
          <p:cNvSpPr/>
          <p:nvPr/>
        </p:nvSpPr>
        <p:spPr>
          <a:xfrm>
            <a:off x="704850" y="2973525"/>
            <a:ext cx="432000" cy="4329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20"/>
          <p:cNvCxnSpPr>
            <a:stCxn id="151" idx="0"/>
          </p:cNvCxnSpPr>
          <p:nvPr/>
        </p:nvCxnSpPr>
        <p:spPr>
          <a:xfrm rot="10800000">
            <a:off x="915450" y="2490525"/>
            <a:ext cx="5400" cy="483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0"/>
          <p:cNvSpPr/>
          <p:nvPr/>
        </p:nvSpPr>
        <p:spPr>
          <a:xfrm rot="10800000">
            <a:off x="3175750" y="2973525"/>
            <a:ext cx="432000" cy="4329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20"/>
          <p:cNvCxnSpPr>
            <a:stCxn id="153" idx="0"/>
          </p:cNvCxnSpPr>
          <p:nvPr/>
        </p:nvCxnSpPr>
        <p:spPr>
          <a:xfrm>
            <a:off x="3391750" y="3406425"/>
            <a:ext cx="5400" cy="483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0"/>
          <p:cNvSpPr/>
          <p:nvPr/>
        </p:nvSpPr>
        <p:spPr>
          <a:xfrm>
            <a:off x="5646675" y="2960600"/>
            <a:ext cx="432000" cy="4329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" name="Google Shape;156;p20"/>
          <p:cNvCxnSpPr>
            <a:stCxn id="155" idx="0"/>
          </p:cNvCxnSpPr>
          <p:nvPr/>
        </p:nvCxnSpPr>
        <p:spPr>
          <a:xfrm rot="10800000">
            <a:off x="5857275" y="2477600"/>
            <a:ext cx="5400" cy="483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0"/>
          <p:cNvSpPr/>
          <p:nvPr/>
        </p:nvSpPr>
        <p:spPr>
          <a:xfrm rot="10800000">
            <a:off x="8117575" y="2960600"/>
            <a:ext cx="432000" cy="4329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p20"/>
          <p:cNvCxnSpPr>
            <a:stCxn id="157" idx="0"/>
          </p:cNvCxnSpPr>
          <p:nvPr/>
        </p:nvCxnSpPr>
        <p:spPr>
          <a:xfrm>
            <a:off x="8333575" y="3393500"/>
            <a:ext cx="5400" cy="483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288000" y="1512000"/>
            <a:ext cx="29862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ru" sz="1243">
                <a:latin typeface="Inter Medium"/>
                <a:ea typeface="Inter Medium"/>
                <a:cs typeface="Inter Medium"/>
                <a:sym typeface="Inter Medium"/>
              </a:rPr>
              <a:t>Для частотных атрибутов с ограниченным набором значений; нормализация регистра, синонимов и единиц измерения.  </a:t>
            </a:r>
            <a:endParaRPr sz="1243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288000" y="1114938"/>
            <a:ext cx="17625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b="1" lang="ru" sz="1243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Словари и правила </a:t>
            </a:r>
            <a:endParaRPr b="1" sz="1243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-294400" y="4032000"/>
            <a:ext cx="36291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43">
                <a:latin typeface="Inter Medium"/>
                <a:ea typeface="Inter Medium"/>
                <a:cs typeface="Inter Medium"/>
                <a:sym typeface="Inter Medium"/>
              </a:rPr>
              <a:t>Для свободного текста, сложных формулировок и случаев, которые не покрываются правилами. Ответ должен подтверждаться фрагментом карточки.</a:t>
            </a:r>
            <a:endParaRPr sz="1243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43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1040950" y="3636000"/>
            <a:ext cx="23562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b="1" lang="ru" sz="12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ML/LLM как fallback </a:t>
            </a:r>
            <a:endParaRPr b="1" sz="1243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5180400" y="1512000"/>
            <a:ext cx="29364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ru" sz="1243">
                <a:latin typeface="Inter Medium"/>
                <a:ea typeface="Inter Medium"/>
                <a:cs typeface="Inter Medium"/>
                <a:sym typeface="Inter Medium"/>
              </a:rPr>
              <a:t>Проверка типов, допустимых значений и конфликтов; отказ от заполнения при недостатке доказательств. </a:t>
            </a:r>
            <a:endParaRPr sz="1243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5181075" y="1116000"/>
            <a:ext cx="26169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b="1" lang="ru" sz="1243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Валидация и confidence </a:t>
            </a:r>
            <a:endParaRPr b="1" sz="1243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5040000" y="4032000"/>
            <a:ext cx="3362700" cy="9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ru" sz="1243">
                <a:latin typeface="Inter Medium"/>
                <a:ea typeface="Inter Medium"/>
                <a:cs typeface="Inter Medium"/>
                <a:sym typeface="Inter Medium"/>
              </a:rPr>
              <a:t>В первую очередь тестировать атрибуты востребованных товаров, а затем расширять покрытие на редкие категории. </a:t>
            </a:r>
            <a:endParaRPr sz="1243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5982775" y="3636000"/>
            <a:ext cx="23562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b="1" lang="ru" sz="1243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Приоритизация по спросу </a:t>
            </a:r>
            <a:endParaRPr b="1" sz="1243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 flipH="1" rot="10800000">
            <a:off x="288000" y="1008000"/>
            <a:ext cx="8521200" cy="2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 txBox="1"/>
          <p:nvPr>
            <p:ph type="title"/>
          </p:nvPr>
        </p:nvSpPr>
        <p:spPr>
          <a:xfrm>
            <a:off x="0" y="504000"/>
            <a:ext cx="878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2400">
                <a:latin typeface="Inter"/>
                <a:ea typeface="Inter"/>
                <a:cs typeface="Inter"/>
                <a:sym typeface="Inter"/>
              </a:rPr>
              <a:t>Пайплайн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0" y="180000"/>
            <a:ext cx="606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0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РАБОТА С ДАННЫМИ ·  АНАЛИЗ ТЕКСТОВЫХ КАРТОЧЕК И АТРИБУТОВ</a:t>
            </a:r>
            <a:endParaRPr b="1" sz="1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4950"/>
            <a:ext cx="316200" cy="3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50" y="3644689"/>
            <a:ext cx="316200" cy="29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4876" y="1115998"/>
            <a:ext cx="316200" cy="35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2488" y="3609999"/>
            <a:ext cx="316200" cy="32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6396" y="0"/>
            <a:ext cx="477600" cy="3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377400" y="1236900"/>
            <a:ext cx="4194600" cy="1269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2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Извлечение готовых характеристик от продавца</a:t>
            </a:r>
            <a:endParaRPr b="1" sz="12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24 607 извлеченных пар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28 ошибок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уверенность 0.998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43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4793325" y="1236900"/>
            <a:ext cx="4062900" cy="3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2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Извлечение характеристик по словарю</a:t>
            </a:r>
            <a:endParaRPr b="1" sz="12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ru" sz="1200">
                <a:solidFill>
                  <a:srgbClr val="98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Материалы:</a:t>
            </a:r>
            <a:endParaRPr sz="1200">
              <a:solidFill>
                <a:srgbClr val="98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6 647 и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звлеченных пар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280 ошибок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уверенность 0.957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8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Цвет:</a:t>
            </a:r>
            <a:endParaRPr sz="1200">
              <a:solidFill>
                <a:srgbClr val="98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5 946  извлеченных пар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255 ошибок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уверенность 0.957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ru" sz="1200">
                <a:solidFill>
                  <a:srgbClr val="98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Страны:</a:t>
            </a:r>
            <a:endParaRPr sz="1200">
              <a:solidFill>
                <a:srgbClr val="98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ru" sz="1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3005 карточек</a:t>
            </a: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ru" sz="1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64 ошибки</a:t>
            </a: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ru" sz="1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уверенность 0.978 </a:t>
            </a: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181" name="Google Shape;181;p21"/>
          <p:cNvCxnSpPr/>
          <p:nvPr/>
        </p:nvCxnSpPr>
        <p:spPr>
          <a:xfrm flipH="1" rot="10800000">
            <a:off x="288000" y="1008000"/>
            <a:ext cx="8521200" cy="2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1"/>
          <p:cNvSpPr txBox="1"/>
          <p:nvPr>
            <p:ph type="title"/>
          </p:nvPr>
        </p:nvSpPr>
        <p:spPr>
          <a:xfrm>
            <a:off x="0" y="504000"/>
            <a:ext cx="878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2443">
                <a:latin typeface="Inter"/>
                <a:ea typeface="Inter"/>
                <a:cs typeface="Inter"/>
                <a:sym typeface="Inter"/>
              </a:rPr>
              <a:t>Анализ 10000 обработанных карточек</a:t>
            </a:r>
            <a:endParaRPr b="1" sz="3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0" y="180000"/>
            <a:ext cx="606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0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АНАЛИЗ УВЕРЕННОСТИ</a:t>
            </a:r>
            <a:endParaRPr b="1"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377400" y="2490000"/>
            <a:ext cx="4062900" cy="1083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Извлечение измерений</a:t>
            </a:r>
            <a:endParaRPr b="1" sz="12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7364 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извлеченных пар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557 ошибок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уверенность 0.924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77400" y="3743100"/>
            <a:ext cx="40629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Извлечение гарантии</a:t>
            </a:r>
            <a:endParaRPr b="1" sz="12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180</a:t>
            </a: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извлеченных пар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 ошибок</a:t>
            </a:r>
            <a:endParaRPr sz="1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уверенность 0.983</a:t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6396" y="0"/>
            <a:ext cx="477600" cy="3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Входные данные(!)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skus.pkl: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670250"/>
            <a:ext cx="4189577" cy="263712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4572000" y="1326025"/>
            <a:ext cx="443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sku_id  ...                                        description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0  401054646  ...  Зеркало с подсветкой в алюминиевой раме SSG MI...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1  401796168  ...  Отвертка с двусторонней рукояткой и ударной фу...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2  401951584  ...  Чашка-поильник с наносеребряным покрытием для ...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3  401380245  ...  Набор для творчества с брелоком-рыбкой.\n\nХар...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4   20104914  ...  Внешний вид: «Отличный».&lt;br&gt;Новый товар. Витри...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[5 rows x 3 columns]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sku_id          int64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title          object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description    object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/>
              <a:t>Index(['sku_id', 'title', 'description'], dtype='object')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4641450" y="1017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sku_desc.parquet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00" y="240975"/>
            <a:ext cx="3898724" cy="1945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700" y="2292075"/>
            <a:ext cx="3898724" cy="175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8675" y="1845349"/>
            <a:ext cx="4766848" cy="215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8675" y="240974"/>
            <a:ext cx="4766848" cy="141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311700" y="265125"/>
            <a:ext cx="347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YML-КАТАЛОГА</a:t>
            </a:r>
            <a:endParaRPr/>
          </a:p>
        </p:txBody>
      </p:sp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725" y="837824"/>
            <a:ext cx="3428399" cy="18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725" y="2842300"/>
            <a:ext cx="3428400" cy="161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350" y="192975"/>
            <a:ext cx="3293525" cy="221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6351" y="2603075"/>
            <a:ext cx="3029524" cy="209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50" y="159575"/>
            <a:ext cx="3539052" cy="1703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4000" y="201913"/>
            <a:ext cx="3241100" cy="16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650" y="2051400"/>
            <a:ext cx="3662551" cy="209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7526" y="2091700"/>
            <a:ext cx="4071298" cy="201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50" y="116624"/>
            <a:ext cx="3708774" cy="289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950" y="116626"/>
            <a:ext cx="4290309" cy="232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9020" y="2683425"/>
            <a:ext cx="2894751" cy="21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775" y="3087175"/>
            <a:ext cx="2604226" cy="177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850" y="218875"/>
            <a:ext cx="6595277" cy="43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725" y="558425"/>
            <a:ext cx="7635476" cy="392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01600"/>
            <a:ext cx="3676201" cy="251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3104" y="117450"/>
            <a:ext cx="4169800" cy="277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7474" y="3145800"/>
            <a:ext cx="2973025" cy="2171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550" y="2964350"/>
            <a:ext cx="4237048" cy="20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